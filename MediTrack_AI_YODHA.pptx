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</p:sldIdLst>
  <p:sldSz cx="18288000" cy="10287000"/>
  <p:notesSz cx="6858000" cy="9144000"/>
  <p:embeddedFontLst>
    <p:embeddedFont>
      <p:font typeface="Neue Einstellung" panose="020B0604020202020204" charset="0"/>
      <p:regular r:id="rId19"/>
    </p:embeddedFont>
    <p:embeddedFont>
      <p:font typeface="Poppins" panose="00000500000000000000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78C9F-69C3-450E-B129-EDE031285F20}" v="7" dt="2026-10-03T01:25:15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307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njana pradeep" userId="40ca170b493b6924" providerId="LiveId" clId="{4B221A38-BB09-4071-B700-BBE505286BC7}"/>
    <pc:docChg chg="undo custSel addSld delSld modSld sldOrd">
      <pc:chgData name="Niranjana pradeep" userId="40ca170b493b6924" providerId="LiveId" clId="{4B221A38-BB09-4071-B700-BBE505286BC7}" dt="2026-10-03T01:17:54.307" v="230" actId="1076"/>
      <pc:docMkLst>
        <pc:docMk/>
      </pc:docMkLst>
      <pc:sldChg chg="modSp mod">
        <pc:chgData name="Niranjana pradeep" userId="40ca170b493b6924" providerId="LiveId" clId="{4B221A38-BB09-4071-B700-BBE505286BC7}" dt="2026-10-03T01:14:16.582" v="208" actId="14100"/>
        <pc:sldMkLst>
          <pc:docMk/>
          <pc:sldMk cId="0" sldId="266"/>
        </pc:sldMkLst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2.280" v="199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35.425" v="201"/>
          <ac:spMkLst>
            <pc:docMk/>
            <pc:sldMk cId="0" sldId="266"/>
            <ac:spMk id="1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2:53.354" v="203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4:16.582" v="208" actId="14100"/>
          <ac:spMkLst>
            <pc:docMk/>
            <pc:sldMk cId="0" sldId="266"/>
            <ac:spMk id="18" creationId="{00000000-0000-0000-0000-000000000000}"/>
          </ac:spMkLst>
        </pc:spChg>
      </pc:sldChg>
      <pc:sldChg chg="modSp mod">
        <pc:chgData name="Niranjana pradeep" userId="40ca170b493b6924" providerId="LiveId" clId="{4B221A38-BB09-4071-B700-BBE505286BC7}" dt="2026-10-03T01:11:38.654" v="195" actId="1076"/>
        <pc:sldMkLst>
          <pc:docMk/>
          <pc:sldMk cId="0" sldId="267"/>
        </pc:sldMkLst>
        <pc:spChg chg="mod">
          <ac:chgData name="Niranjana pradeep" userId="40ca170b493b6924" providerId="LiveId" clId="{4B221A38-BB09-4071-B700-BBE505286BC7}" dt="2026-10-03T01:11:38.654" v="195" actId="1076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Niranjana pradeep" userId="40ca170b493b6924" providerId="LiveId" clId="{4B221A38-BB09-4071-B700-BBE505286BC7}" dt="2026-10-03T01:17:54.307" v="230" actId="1076"/>
        <pc:sldMkLst>
          <pc:docMk/>
          <pc:sldMk cId="0" sldId="277"/>
        </pc:sldMkLst>
        <pc:spChg chg="mod">
          <ac:chgData name="Niranjana pradeep" userId="40ca170b493b6924" providerId="LiveId" clId="{4B221A38-BB09-4071-B700-BBE505286BC7}" dt="2026-10-03T01:16:20.073" v="220" actId="107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6:16.489" v="219" actId="1076"/>
          <ac:spMkLst>
            <pc:docMk/>
            <pc:sldMk cId="0" sldId="277"/>
            <ac:spMk id="24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6:37.397" v="223" actId="1076"/>
          <ac:spMkLst>
            <pc:docMk/>
            <pc:sldMk cId="0" sldId="277"/>
            <ac:spMk id="25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01.373" v="226" actId="1076"/>
          <ac:spMkLst>
            <pc:docMk/>
            <pc:sldMk cId="0" sldId="277"/>
            <ac:spMk id="2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07.427" v="227" actId="1076"/>
          <ac:spMkLst>
            <pc:docMk/>
            <pc:sldMk cId="0" sldId="277"/>
            <ac:spMk id="2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20.082" v="229" actId="1076"/>
          <ac:spMkLst>
            <pc:docMk/>
            <pc:sldMk cId="0" sldId="277"/>
            <ac:spMk id="28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7:54.307" v="230" actId="1076"/>
          <ac:spMkLst>
            <pc:docMk/>
            <pc:sldMk cId="0" sldId="277"/>
            <ac:spMk id="29" creationId="{00000000-0000-0000-0000-000000000000}"/>
          </ac:spMkLst>
        </pc:spChg>
        <pc:grpChg chg="mod">
          <ac:chgData name="Niranjana pradeep" userId="40ca170b493b6924" providerId="LiveId" clId="{4B221A38-BB09-4071-B700-BBE505286BC7}" dt="2026-10-03T01:17:11.167" v="228" actId="1076"/>
          <ac:grpSpMkLst>
            <pc:docMk/>
            <pc:sldMk cId="0" sldId="277"/>
            <ac:grpSpMk id="5" creationId="{00000000-0000-0000-0000-000000000000}"/>
          </ac:grpSpMkLst>
        </pc:grpChg>
      </pc:sldChg>
      <pc:sldChg chg="modSp mod">
        <pc:chgData name="Niranjana pradeep" userId="40ca170b493b6924" providerId="LiveId" clId="{4B221A38-BB09-4071-B700-BBE505286BC7}" dt="2026-10-03T01:15:59.009" v="218" actId="1076"/>
        <pc:sldMkLst>
          <pc:docMk/>
          <pc:sldMk cId="0" sldId="280"/>
        </pc:sldMkLst>
        <pc:spChg chg="mod">
          <ac:chgData name="Niranjana pradeep" userId="40ca170b493b6924" providerId="LiveId" clId="{4B221A38-BB09-4071-B700-BBE505286BC7}" dt="2026-10-03T01:15:59.009" v="218" actId="1076"/>
          <ac:spMkLst>
            <pc:docMk/>
            <pc:sldMk cId="0" sldId="280"/>
            <ac:spMk id="21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00.217" v="209" actId="1076"/>
          <ac:spMkLst>
            <pc:docMk/>
            <pc:sldMk cId="0" sldId="280"/>
            <ac:spMk id="22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05.581" v="210" actId="1076"/>
          <ac:spMkLst>
            <pc:docMk/>
            <pc:sldMk cId="0" sldId="280"/>
            <ac:spMk id="23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09.038" v="211" actId="1076"/>
          <ac:spMkLst>
            <pc:docMk/>
            <pc:sldMk cId="0" sldId="280"/>
            <ac:spMk id="24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13.369" v="212" actId="1076"/>
          <ac:spMkLst>
            <pc:docMk/>
            <pc:sldMk cId="0" sldId="280"/>
            <ac:spMk id="25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19.144" v="213" actId="1076"/>
          <ac:spMkLst>
            <pc:docMk/>
            <pc:sldMk cId="0" sldId="280"/>
            <ac:spMk id="26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22.943" v="214" actId="1076"/>
          <ac:spMkLst>
            <pc:docMk/>
            <pc:sldMk cId="0" sldId="280"/>
            <ac:spMk id="27" creationId="{00000000-0000-0000-0000-000000000000}"/>
          </ac:spMkLst>
        </pc:spChg>
        <pc:spChg chg="mod">
          <ac:chgData name="Niranjana pradeep" userId="40ca170b493b6924" providerId="LiveId" clId="{4B221A38-BB09-4071-B700-BBE505286BC7}" dt="2026-10-03T01:15:47.432" v="215" actId="1076"/>
          <ac:spMkLst>
            <pc:docMk/>
            <pc:sldMk cId="0" sldId="280"/>
            <ac:spMk id="28" creationId="{00000000-0000-0000-0000-000000000000}"/>
          </ac:spMkLst>
        </pc:spChg>
      </pc:sldChg>
      <pc:sldChg chg="new del ord">
        <pc:chgData name="Niranjana pradeep" userId="40ca170b493b6924" providerId="LiveId" clId="{4B221A38-BB09-4071-B700-BBE505286BC7}" dt="2026-10-03T01:05:30.486" v="11" actId="680"/>
        <pc:sldMkLst>
          <pc:docMk/>
          <pc:sldMk cId="2610967325" sldId="282"/>
        </pc:sldMkLst>
      </pc:sldChg>
      <pc:sldChg chg="delSp modSp add mod">
        <pc:chgData name="Niranjana pradeep" userId="40ca170b493b6924" providerId="LiveId" clId="{4B221A38-BB09-4071-B700-BBE505286BC7}" dt="2026-10-03T01:06:23.936" v="44"/>
        <pc:sldMkLst>
          <pc:docMk/>
          <pc:sldMk cId="4177950363" sldId="282"/>
        </pc:sldMkLst>
        <pc:spChg chg="mod">
          <ac:chgData name="Niranjana pradeep" userId="40ca170b493b6924" providerId="LiveId" clId="{4B221A38-BB09-4071-B700-BBE505286BC7}" dt="2026-10-03T01:06:21.254" v="40" actId="255"/>
          <ac:spMkLst>
            <pc:docMk/>
            <pc:sldMk cId="4177950363" sldId="282"/>
            <ac:spMk id="12" creationId="{8FE702DA-5BA9-23AB-990A-342BB088C3CB}"/>
          </ac:spMkLst>
        </pc:spChg>
        <pc:spChg chg="del mod">
          <ac:chgData name="Niranjana pradeep" userId="40ca170b493b6924" providerId="LiveId" clId="{4B221A38-BB09-4071-B700-BBE505286BC7}" dt="2026-10-03T01:06:23.936" v="44"/>
          <ac:spMkLst>
            <pc:docMk/>
            <pc:sldMk cId="4177950363" sldId="282"/>
            <ac:spMk id="13" creationId="{AAA1854B-BEF3-851A-7D3E-F132DD2DE923}"/>
          </ac:spMkLst>
        </pc:spChg>
        <pc:spChg chg="del mod">
          <ac:chgData name="Niranjana pradeep" userId="40ca170b493b6924" providerId="LiveId" clId="{4B221A38-BB09-4071-B700-BBE505286BC7}" dt="2026-10-03T01:06:23.935" v="42"/>
          <ac:spMkLst>
            <pc:docMk/>
            <pc:sldMk cId="4177950363" sldId="282"/>
            <ac:spMk id="14" creationId="{965A8A08-5071-07A1-C6C7-6EFF8468C434}"/>
          </ac:spMkLst>
        </pc:spChg>
      </pc:sldChg>
      <pc:sldChg chg="addSp delSp add del mod">
        <pc:chgData name="Niranjana pradeep" userId="40ca170b493b6924" providerId="LiveId" clId="{4B221A38-BB09-4071-B700-BBE505286BC7}" dt="2026-10-03T01:05:30.081" v="10" actId="2890"/>
        <pc:sldMkLst>
          <pc:docMk/>
          <pc:sldMk cId="3163522915" sldId="283"/>
        </pc:sldMkLst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2" creationId="{A885EF53-0621-51E6-D76F-6CF0499D0953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6" creationId="{8B6A87B5-A841-9852-624F-FEADDC89B9BF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8" creationId="{616A0C16-1495-9B54-09EF-CAC65803EE55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9" creationId="{D15E7BEA-734B-A547-0DB6-FD4EEBB03C49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0" creationId="{70EC1D48-A4B8-E5C5-C261-E562950F782C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1" creationId="{4AEEF899-82F9-28C9-A448-9EB2783DAF41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2" creationId="{92B9FD82-2642-E4CF-DB6D-D3246B30B480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3" creationId="{9DA9114A-519F-C55F-35FA-779CE86D6D55}"/>
          </ac:spMkLst>
        </pc:spChg>
        <pc:spChg chg="add del">
          <ac:chgData name="Niranjana pradeep" userId="40ca170b493b6924" providerId="LiveId" clId="{4B221A38-BB09-4071-B700-BBE505286BC7}" dt="2026-10-03T01:05:29.062" v="7" actId="478"/>
          <ac:spMkLst>
            <pc:docMk/>
            <pc:sldMk cId="3163522915" sldId="283"/>
            <ac:spMk id="14" creationId="{F4718BC2-6EB3-3416-0926-68208947D6EE}"/>
          </ac:spMkLst>
        </pc:spChg>
        <pc:grpChg chg="add del">
          <ac:chgData name="Niranjana pradeep" userId="40ca170b493b6924" providerId="LiveId" clId="{4B221A38-BB09-4071-B700-BBE505286BC7}" dt="2026-10-03T01:05:29.062" v="7" actId="478"/>
          <ac:grpSpMkLst>
            <pc:docMk/>
            <pc:sldMk cId="3163522915" sldId="283"/>
            <ac:grpSpMk id="3" creationId="{E2AC6974-1E1B-3F93-2D00-9FBB8326E578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r="-3317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2255873" y="-927719"/>
            <a:ext cx="16700488" cy="12142438"/>
            <a:chOff x="0" y="0"/>
            <a:chExt cx="4398482" cy="31980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14073" y="8724893"/>
            <a:ext cx="2163310" cy="2728294"/>
          </a:xfrm>
          <a:custGeom>
            <a:avLst/>
            <a:gdLst/>
            <a:ahLst/>
            <a:cxnLst/>
            <a:rect l="l" t="t" r="r" b="b"/>
            <a:pathLst>
              <a:path w="2163310" h="2728294">
                <a:moveTo>
                  <a:pt x="0" y="0"/>
                </a:moveTo>
                <a:lnTo>
                  <a:pt x="2163310" y="0"/>
                </a:lnTo>
                <a:lnTo>
                  <a:pt x="2163310" y="2728294"/>
                </a:lnTo>
                <a:lnTo>
                  <a:pt x="0" y="2728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28700" y="3366593"/>
            <a:ext cx="10501615" cy="280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8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09538" y="9015274"/>
            <a:ext cx="8034462" cy="100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0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109538" y="2279512"/>
            <a:ext cx="6476331" cy="7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8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028700" y="6226240"/>
            <a:ext cx="7082933" cy="101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8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57400"/>
            <a:ext cx="6217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74678"/>
                </a:solidFill>
                <a:latin typeface="Neue Einstellung"/>
              </a:rPr>
              <a:t>PRESENTS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88920"/>
            <a:ext cx="7955279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200" b="1">
                <a:solidFill>
                  <a:srgbClr val="074678"/>
                </a:solidFill>
                <a:latin typeface="Poppins"/>
              </a:rPr>
              <a:t>MEDI-TRACK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200" b="1">
                <a:solidFill>
                  <a:srgbClr val="074678"/>
                </a:solidFill>
                <a:latin typeface="Poppin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57800"/>
            <a:ext cx="7223760" cy="8448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2500" b="0" dirty="0">
                <a:solidFill>
                  <a:srgbClr val="074678"/>
                </a:solidFill>
                <a:latin typeface="Neue Einstellung"/>
              </a:rPr>
              <a:t>INTELLIGENT HOSPITAL EQUIPMENT TRACKING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2500" b="0" dirty="0">
                <a:solidFill>
                  <a:srgbClr val="074678"/>
                </a:solidFill>
                <a:latin typeface="Neue Einstellung"/>
              </a:rPr>
              <a:t>AND 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7547176"/>
            <a:ext cx="7498079" cy="90640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dirty="0">
                <a:solidFill>
                  <a:srgbClr val="074678"/>
                </a:solidFill>
                <a:latin typeface="Neue Einstellung"/>
              </a:rPr>
              <a:t>TEAM NAME: INNOV8</a:t>
            </a:r>
            <a:br>
              <a:rPr lang="en-IN" dirty="0">
                <a:solidFill>
                  <a:srgbClr val="074678"/>
                </a:solidFill>
                <a:latin typeface="Neue Einstellung"/>
              </a:rPr>
            </a:br>
            <a:endParaRPr b="0" dirty="0">
              <a:solidFill>
                <a:srgbClr val="074678"/>
              </a:solidFill>
              <a:latin typeface="Neue Einstellung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endParaRPr b="0" dirty="0">
              <a:solidFill>
                <a:srgbClr val="074678"/>
              </a:solidFill>
              <a:latin typeface="Neue Einstellung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" y="7906978"/>
            <a:ext cx="1011631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b="0" dirty="0">
                <a:solidFill>
                  <a:srgbClr val="074678"/>
                </a:solidFill>
                <a:latin typeface="Neue Einstellung"/>
              </a:rPr>
              <a:t>BY AMEYA JOSE CHAZHOOR, MARIA ANN MATHEW, NIRANJANA PP, LALKRISHNA VJ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1421435" y="1662181"/>
            <a:ext cx="6384648" cy="638464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961" r="-35851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066545" y="5799744"/>
            <a:ext cx="3345355" cy="334535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>
            <a:off x="15235476" y="8046829"/>
            <a:ext cx="2403719" cy="2812738"/>
          </a:xfrm>
          <a:custGeom>
            <a:avLst/>
            <a:gdLst/>
            <a:ahLst/>
            <a:cxnLst/>
            <a:rect l="l" t="t" r="r" b="b"/>
            <a:pathLst>
              <a:path w="2403719" h="2812738">
                <a:moveTo>
                  <a:pt x="0" y="0"/>
                </a:moveTo>
                <a:lnTo>
                  <a:pt x="2403718" y="0"/>
                </a:lnTo>
                <a:lnTo>
                  <a:pt x="2403718" y="2812738"/>
                </a:lnTo>
                <a:lnTo>
                  <a:pt x="0" y="28127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35839" y="1416752"/>
            <a:ext cx="10085596" cy="84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32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28700" y="3625842"/>
            <a:ext cx="8750092" cy="189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028700" y="5579862"/>
            <a:ext cx="8750092" cy="23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917" y="1459425"/>
            <a:ext cx="13847015" cy="5601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dirty="0">
                <a:solidFill>
                  <a:srgbClr val="074678"/>
                </a:solidFill>
                <a:latin typeface="Poppins"/>
              </a:rPr>
              <a:t>PROBLEM STATEMENT</a:t>
            </a:r>
            <a:r>
              <a:rPr lang="en-IN" sz="3400" b="1" dirty="0">
                <a:solidFill>
                  <a:srgbClr val="074678"/>
                </a:solidFill>
                <a:latin typeface="Poppins"/>
              </a:rPr>
              <a:t>(NO.14 : MEDICAL EQUIPMENT TRACKING)</a:t>
            </a:r>
            <a:endParaRPr sz="3400" b="1" dirty="0">
              <a:solidFill>
                <a:srgbClr val="074678"/>
              </a:solidFill>
              <a:latin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2331720"/>
            <a:ext cx="6903720" cy="1552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The real challenge is knowing where medical equipment is,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whether it is available, and whether it is ready when urgently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042" y="4211267"/>
            <a:ext cx="6903720" cy="36763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Mobile equipment is often difficult to locate.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Real-time availability and usage status are unclear.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 may remain unused while another department needs it.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Delayed maintenance and emergency access can affect operations</a:t>
            </a:r>
            <a:r>
              <a:rPr sz="1700" dirty="0">
                <a:solidFill>
                  <a:srgbClr val="074678"/>
                </a:solidFill>
                <a:latin typeface="Neue Einstellung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745" y="8190281"/>
            <a:ext cx="704088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Core problem: no unified system connects identification, usage, location and intelligent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8096365" y="-1072867"/>
            <a:ext cx="16804051" cy="12432733"/>
            <a:chOff x="0" y="0"/>
            <a:chExt cx="4425758" cy="32744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130661" y="-595793"/>
            <a:ext cx="1596730" cy="1385163"/>
          </a:xfrm>
          <a:custGeom>
            <a:avLst/>
            <a:gdLst/>
            <a:ahLst/>
            <a:cxnLst/>
            <a:rect l="l" t="t" r="r" b="b"/>
            <a:pathLst>
              <a:path w="1596730" h="1385163">
                <a:moveTo>
                  <a:pt x="0" y="0"/>
                </a:moveTo>
                <a:lnTo>
                  <a:pt x="1596730" y="0"/>
                </a:lnTo>
                <a:lnTo>
                  <a:pt x="1596730" y="1385163"/>
                </a:lnTo>
                <a:lnTo>
                  <a:pt x="0" y="1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0898317" y="8644650"/>
            <a:ext cx="1730781" cy="2025292"/>
          </a:xfrm>
          <a:custGeom>
            <a:avLst/>
            <a:gdLst/>
            <a:ahLst/>
            <a:cxnLst/>
            <a:rect l="l" t="t" r="r" b="b"/>
            <a:pathLst>
              <a:path w="1730781" h="2025292">
                <a:moveTo>
                  <a:pt x="0" y="0"/>
                </a:moveTo>
                <a:lnTo>
                  <a:pt x="1730781" y="0"/>
                </a:lnTo>
                <a:lnTo>
                  <a:pt x="1730781" y="2025292"/>
                </a:lnTo>
                <a:lnTo>
                  <a:pt x="0" y="2025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649017" y="1858900"/>
            <a:ext cx="4959459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9409052" y="6991705"/>
            <a:ext cx="2354656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3723717" y="6991705"/>
            <a:ext cx="2884759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44000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3723717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096365" y="3404391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096365" y="4894439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417320"/>
            <a:ext cx="58521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074678"/>
                </a:solidFill>
                <a:latin typeface="Poppins"/>
              </a:rPr>
              <a:t>PROPOSED SOLUTION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1B79E89-F1D5-9A34-4408-B96A3A3CAD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87" y="2007117"/>
            <a:ext cx="6915486" cy="46103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52360" y="2743200"/>
            <a:ext cx="758952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Introducing </a:t>
            </a:r>
            <a:r>
              <a:rPr sz="2800" b="1" dirty="0" err="1">
                <a:solidFill>
                  <a:srgbClr val="074678"/>
                </a:solidFill>
                <a:latin typeface="Poppins"/>
              </a:rPr>
              <a:t>MediTrack</a:t>
            </a:r>
            <a:r>
              <a:rPr sz="2800" b="1" dirty="0">
                <a:solidFill>
                  <a:srgbClr val="074678"/>
                </a:solidFill>
                <a:latin typeface="Poppins"/>
              </a:rPr>
              <a:t>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74720"/>
            <a:ext cx="740664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An integrated IoT + AI platform that monitors, locates and intelligently manages hospital medical equipment.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074920"/>
            <a:ext cx="7315200" cy="18322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ESP32-based tracking module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RFID equipment identification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PIR-based usage detection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Wi-Fi-connected centralized dashboard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000" dirty="0">
                <a:solidFill>
                  <a:srgbClr val="074678"/>
                </a:solidFill>
                <a:latin typeface="Neue Einstellung"/>
              </a:rPr>
              <a:t>• AI-assisted allocation, maintenance and demand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8001000"/>
            <a:ext cx="72237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Hardware Tracking  +  Website  +  AI Intelligence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39072" y="5867061"/>
            <a:ext cx="2648643" cy="26486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46" r="-25046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500" b="-1716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965705" y="-4241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10889558" y="1560860"/>
            <a:ext cx="9580650" cy="7471970"/>
            <a:chOff x="0" y="0"/>
            <a:chExt cx="895625" cy="698500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895625" cy="698500"/>
            </a:xfrm>
            <a:custGeom>
              <a:avLst/>
              <a:gdLst/>
              <a:ahLst/>
              <a:cxnLst/>
              <a:rect l="l" t="t" r="r" b="b"/>
              <a:pathLst>
                <a:path w="895625" h="698500">
                  <a:moveTo>
                    <a:pt x="0" y="349250"/>
                  </a:moveTo>
                  <a:lnTo>
                    <a:pt x="203200" y="698500"/>
                  </a:lnTo>
                  <a:lnTo>
                    <a:pt x="692425" y="698500"/>
                  </a:lnTo>
                  <a:lnTo>
                    <a:pt x="895625" y="349250"/>
                  </a:lnTo>
                  <a:lnTo>
                    <a:pt x="692425" y="0"/>
                  </a:lnTo>
                  <a:lnTo>
                    <a:pt x="203200" y="0"/>
                  </a:lnTo>
                  <a:lnTo>
                    <a:pt x="0" y="349250"/>
                  </a:lnTo>
                  <a:close/>
                </a:path>
              </a:pathLst>
            </a:custGeom>
            <a:blipFill>
              <a:blip r:embed="rId4"/>
              <a:stretch>
                <a:fillRect l="-9992" r="-9992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305317" y="6249759"/>
            <a:ext cx="3650689" cy="36506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5046" r="-25046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828800"/>
            <a:ext cx="64008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IDEA &amp; INNOVATION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80360"/>
            <a:ext cx="713232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What makes </a:t>
            </a:r>
            <a:r>
              <a:rPr sz="2800" b="1" dirty="0" err="1">
                <a:solidFill>
                  <a:srgbClr val="074678"/>
                </a:solidFill>
                <a:latin typeface="Poppins"/>
              </a:rPr>
              <a:t>MediTrack</a:t>
            </a:r>
            <a:r>
              <a:rPr sz="2800" b="1" dirty="0">
                <a:solidFill>
                  <a:srgbClr val="074678"/>
                </a:solidFill>
                <a:latin typeface="Poppins"/>
              </a:rPr>
              <a:t> AI different?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39" y="3386741"/>
            <a:ext cx="6949440" cy="244528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Automated status detection using motion sensing.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Unique RFID identity for every registered equipment item.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Manual + automatic status control.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Digital hospital map for equipment visibility.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203" y="6206927"/>
            <a:ext cx="713232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Neue Einstellung"/>
              </a:rPr>
              <a:t>Connected monitoring replaces manual equipment tracking.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08" y="7318224"/>
            <a:ext cx="6949440" cy="157838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AI-assisted allocation and predictive maintenance.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400" dirty="0">
                <a:solidFill>
                  <a:srgbClr val="074678"/>
                </a:solidFill>
                <a:latin typeface="Neue Einstellung"/>
              </a:rPr>
              <a:t>• Centralized inventory, hardware monitoring and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6042161" y="-1098325"/>
            <a:ext cx="16804051" cy="12432733"/>
            <a:chOff x="0" y="0"/>
            <a:chExt cx="4425758" cy="32744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898317" y="8644650"/>
            <a:ext cx="1730781" cy="2025292"/>
          </a:xfrm>
          <a:custGeom>
            <a:avLst/>
            <a:gdLst/>
            <a:ahLst/>
            <a:cxnLst/>
            <a:rect l="l" t="t" r="r" b="b"/>
            <a:pathLst>
              <a:path w="1730781" h="2025292">
                <a:moveTo>
                  <a:pt x="0" y="0"/>
                </a:moveTo>
                <a:lnTo>
                  <a:pt x="1730781" y="0"/>
                </a:lnTo>
                <a:lnTo>
                  <a:pt x="1730781" y="2025292"/>
                </a:lnTo>
                <a:lnTo>
                  <a:pt x="0" y="2025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649017" y="1858900"/>
            <a:ext cx="4959459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9409052" y="6991705"/>
            <a:ext cx="2354656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3723717" y="6991705"/>
            <a:ext cx="2884759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44000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3723717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096365" y="3404391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096365" y="4894439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508760"/>
            <a:ext cx="60350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dirty="0">
                <a:solidFill>
                  <a:srgbClr val="074678"/>
                </a:solidFill>
                <a:latin typeface="Poppins"/>
              </a:rPr>
              <a:t>SYSTEM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74320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>
                <a:solidFill>
                  <a:srgbClr val="074678"/>
                </a:solidFill>
                <a:latin typeface="Poppins"/>
              </a:rPr>
              <a:t>Hardware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02826"/>
            <a:ext cx="713232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ESP32 • RFID RC522 • PIR • Buttons • LED • Buzzer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06908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Communication</a:t>
            </a:r>
            <a:r>
              <a:rPr sz="1800" b="1" dirty="0">
                <a:solidFill>
                  <a:srgbClr val="074678"/>
                </a:solidFill>
                <a:latin typeface="Poppins"/>
              </a:rPr>
              <a:t>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5084" y="4558510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>
                <a:solidFill>
                  <a:srgbClr val="074678"/>
                </a:solidFill>
                <a:latin typeface="Neue Einstellung"/>
              </a:rPr>
              <a:t>Wi-Fi • HTTP API • 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16636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Backend + Data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596920"/>
            <a:ext cx="713232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074678"/>
                </a:solidFill>
                <a:latin typeface="Neue Einstellung"/>
              </a:rPr>
              <a:t>FastAPI</a:t>
            </a:r>
            <a:r>
              <a:rPr sz="2400" b="0" dirty="0">
                <a:solidFill>
                  <a:srgbClr val="074678"/>
                </a:solidFill>
                <a:latin typeface="Neue Einstellung"/>
              </a:rPr>
              <a:t> • Equipment • Usage • Movement • Maintenance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446520"/>
            <a:ext cx="69494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Poppins"/>
              </a:rPr>
              <a:t>AI + Application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1827" y="6898193"/>
            <a:ext cx="7132320" cy="1552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Smart allocation • Maintenance • Forecasting • Emergency priority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Dashboard • Hospital map • ESP32 Lab • AI Insights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B97D212-94EA-DE84-17CF-6C3BA88F3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53" y="2435068"/>
            <a:ext cx="6665250" cy="44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2496160" y="0"/>
            <a:ext cx="16805300" cy="12432733"/>
            <a:chOff x="0" y="0"/>
            <a:chExt cx="4425758" cy="32744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649017" y="1858900"/>
            <a:ext cx="4959459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9409052" y="6991705"/>
            <a:ext cx="2354656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3723717" y="6991705"/>
            <a:ext cx="2884759" cy="55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44000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3723717" y="7543157"/>
            <a:ext cx="2884759" cy="51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096365" y="3404391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096365" y="4894439"/>
            <a:ext cx="861602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0299" y="1158473"/>
            <a:ext cx="58521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800" b="1" dirty="0">
                <a:solidFill>
                  <a:srgbClr val="074678"/>
                </a:solidFill>
                <a:latin typeface="Poppins"/>
              </a:rPr>
              <a:t>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2694" y="2144611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1  IDENTIFY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2347" y="2516246"/>
            <a:ext cx="7223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RFID scan identifies registered equipment.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1867" y="3102067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2  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347" y="3543373"/>
            <a:ext cx="72237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 dirty="0">
                <a:solidFill>
                  <a:srgbClr val="074678"/>
                </a:solidFill>
                <a:latin typeface="Neue Einstellung"/>
              </a:rPr>
              <a:t>PIR detects motion and updates usage.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2347" y="4003647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3 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4184" y="4409057"/>
            <a:ext cx="722376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Buttons allow manual start, stop or temporary unavailability.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5610" y="5307765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4</a:t>
            </a:r>
            <a:r>
              <a:rPr sz="1500" b="1" dirty="0">
                <a:solidFill>
                  <a:srgbClr val="074678"/>
                </a:solidFill>
                <a:latin typeface="Poppins"/>
              </a:rPr>
              <a:t> 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TRANSMIT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9424" y="5701619"/>
            <a:ext cx="7223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ESP32 sends status through Wi-Fi</a:t>
            </a:r>
            <a:r>
              <a:rPr sz="1300" b="0" dirty="0">
                <a:solidFill>
                  <a:srgbClr val="074678"/>
                </a:solidFill>
                <a:latin typeface="Neue Einstellung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1867" y="6313381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5</a:t>
            </a:r>
            <a:r>
              <a:rPr sz="1500" b="1" dirty="0">
                <a:solidFill>
                  <a:srgbClr val="074678"/>
                </a:solidFill>
                <a:latin typeface="Poppins"/>
              </a:rPr>
              <a:t> 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424" y="6736304"/>
            <a:ext cx="722376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Backend updates dashboard and map</a:t>
            </a:r>
            <a:r>
              <a:rPr sz="1300" b="0" dirty="0">
                <a:solidFill>
                  <a:srgbClr val="074678"/>
                </a:solidFill>
                <a:latin typeface="Neue Einstellung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2694" y="7331408"/>
            <a:ext cx="713232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6</a:t>
            </a:r>
            <a:r>
              <a:rPr sz="1500" b="1" dirty="0">
                <a:solidFill>
                  <a:srgbClr val="074678"/>
                </a:solidFill>
                <a:latin typeface="Poppins"/>
              </a:rPr>
              <a:t> 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ANALYZE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5214" y="7871938"/>
            <a:ext cx="7223760" cy="13295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AI processes data for allocation, maintenance, forecasting and emergency priority.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9543" y="9312938"/>
            <a:ext cx="713232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Neue Einstellung"/>
              </a:rPr>
              <a:t>LED + buzzer provide local hardware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FFC0376F-DACD-1942-1763-92F545C6238C}"/>
              </a:ext>
            </a:extLst>
          </p:cNvPr>
          <p:cNvSpPr/>
          <p:nvPr/>
        </p:nvSpPr>
        <p:spPr>
          <a:xfrm flipH="1">
            <a:off x="-1199535" y="-266700"/>
            <a:ext cx="19507200" cy="1124295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326" r="-1232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1199535" y="-316499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828800"/>
            <a:ext cx="69494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074678"/>
                </a:solidFill>
                <a:latin typeface="Poppins"/>
              </a:rPr>
              <a:t>AI / ML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161" y="2981144"/>
            <a:ext cx="39928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01  SMART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161" y="3423520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Availability • Location • Department • Priority • Condition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161" y="4354850"/>
            <a:ext cx="6127725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02  PREDICTIVE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161" y="4747131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Usage hours • Equipment age • Faults • Temperature •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14" y="5704692"/>
            <a:ext cx="4350425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03  DEMAND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787" y="6194351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Historical usage • Department requirements • Usage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14" y="7179100"/>
            <a:ext cx="5305486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04  EMERGENCY PRIORITIZATION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7712327"/>
            <a:ext cx="649224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Emergency level • Availability • Location • Clinical priority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043" y="8757008"/>
            <a:ext cx="10982153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Objective: faster and more informed equipment management decisions.</a:t>
            </a:r>
          </a:p>
        </p:txBody>
      </p:sp>
      <p:grpSp>
        <p:nvGrpSpPr>
          <p:cNvPr id="34" name="Group 4">
            <a:extLst>
              <a:ext uri="{FF2B5EF4-FFF2-40B4-BE49-F238E27FC236}">
                <a16:creationId xmlns:a16="http://schemas.microsoft.com/office/drawing/2014/main" id="{5FF56231-A2BD-DD0E-84C1-1D083073553F}"/>
              </a:ext>
            </a:extLst>
          </p:cNvPr>
          <p:cNvGrpSpPr/>
          <p:nvPr/>
        </p:nvGrpSpPr>
        <p:grpSpPr>
          <a:xfrm rot="-10800000">
            <a:off x="5716944" y="-741139"/>
            <a:ext cx="16805300" cy="12432733"/>
            <a:chOff x="0" y="0"/>
            <a:chExt cx="4425758" cy="3274465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4540339D-FFB7-854B-1B0C-2267F8DAFC04}"/>
                </a:ext>
              </a:extLst>
            </p:cNvPr>
            <p:cNvSpPr/>
            <p:nvPr/>
          </p:nvSpPr>
          <p:spPr>
            <a:xfrm>
              <a:off x="0" y="0"/>
              <a:ext cx="4425759" cy="3274465"/>
            </a:xfrm>
            <a:custGeom>
              <a:avLst/>
              <a:gdLst/>
              <a:ahLst/>
              <a:cxnLst/>
              <a:rect l="l" t="t" r="r" b="b"/>
              <a:pathLst>
                <a:path w="4425759" h="3274465">
                  <a:moveTo>
                    <a:pt x="0" y="0"/>
                  </a:moveTo>
                  <a:lnTo>
                    <a:pt x="4425759" y="0"/>
                  </a:lnTo>
                  <a:lnTo>
                    <a:pt x="4425759" y="3274465"/>
                  </a:lnTo>
                  <a:lnTo>
                    <a:pt x="0" y="32744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36" name="TextBox 6">
              <a:extLst>
                <a:ext uri="{FF2B5EF4-FFF2-40B4-BE49-F238E27FC236}">
                  <a16:creationId xmlns:a16="http://schemas.microsoft.com/office/drawing/2014/main" id="{E9B06948-5C95-8C2B-3498-7F38064732DC}"/>
                </a:ext>
              </a:extLst>
            </p:cNvPr>
            <p:cNvSpPr txBox="1"/>
            <p:nvPr/>
          </p:nvSpPr>
          <p:spPr>
            <a:xfrm>
              <a:off x="0" y="-57150"/>
              <a:ext cx="4425758" cy="33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096090D-F94A-CE48-8A04-B2DB5CEFDD02}"/>
              </a:ext>
            </a:extLst>
          </p:cNvPr>
          <p:cNvSpPr/>
          <p:nvPr/>
        </p:nvSpPr>
        <p:spPr>
          <a:xfrm flipH="1">
            <a:off x="-1447800" y="-1613302"/>
            <a:ext cx="20269200" cy="1239560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965705" y="-4241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828800"/>
            <a:ext cx="69494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TECHNOLOGY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4640"/>
            <a:ext cx="55930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MICROCONTROLLER +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51558"/>
            <a:ext cx="640080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ESP32 • Arduino IDE / C++ • RFID RC522 • PIR sensor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957" y="4366654"/>
            <a:ext cx="42062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172" y="4810610"/>
            <a:ext cx="64008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Wi-Fi • HTTP API • WebSocket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172" y="5350624"/>
            <a:ext cx="42062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BACKEND +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832" y="5897218"/>
            <a:ext cx="64008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Python • </a:t>
            </a:r>
            <a:r>
              <a:rPr sz="2800" b="0" dirty="0" err="1">
                <a:solidFill>
                  <a:srgbClr val="074678"/>
                </a:solidFill>
                <a:latin typeface="Neue Einstellung"/>
              </a:rPr>
              <a:t>FastAPI</a:t>
            </a:r>
            <a:r>
              <a:rPr sz="2800" b="0" dirty="0">
                <a:solidFill>
                  <a:srgbClr val="074678"/>
                </a:solidFill>
                <a:latin typeface="Neue Einstellung"/>
              </a:rPr>
              <a:t> • 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832" y="6491189"/>
            <a:ext cx="42062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FRONTEND +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6947436"/>
            <a:ext cx="64008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HTML • CSS • JavaScript • </a:t>
            </a:r>
            <a:r>
              <a:rPr lang="en-IN" sz="2800" dirty="0">
                <a:solidFill>
                  <a:srgbClr val="074678"/>
                </a:solidFill>
                <a:latin typeface="Neue Einstellung"/>
              </a:rPr>
              <a:t>SVG</a:t>
            </a:r>
            <a:endParaRPr sz="2800" b="0" dirty="0">
              <a:solidFill>
                <a:srgbClr val="074678"/>
              </a:solidFill>
              <a:latin typeface="Neue Einstellung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28700" y="8487260"/>
            <a:ext cx="781050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dirty="0">
                <a:solidFill>
                  <a:srgbClr val="074678"/>
                </a:solidFill>
                <a:latin typeface="Neue Einstellung"/>
              </a:rPr>
              <a:t>Technology integration: IoT → backend → web platform → AI modules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BA2CD16B-EB48-8E9E-252A-C24705E51E8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2FE9318F-92F2-D018-E56B-E530A0CF095B}"/>
              </a:ext>
            </a:extLst>
          </p:cNvPr>
          <p:cNvSpPr txBox="1"/>
          <p:nvPr/>
        </p:nvSpPr>
        <p:spPr>
          <a:xfrm>
            <a:off x="0" y="-992311"/>
            <a:ext cx="18288000" cy="1235942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549"/>
              </a:lnSpc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10241413" y="-722104"/>
            <a:ext cx="12853901" cy="11025968"/>
            <a:chOff x="0" y="0"/>
            <a:chExt cx="3385389" cy="29039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274434" y="5601280"/>
            <a:ext cx="1476801" cy="1002379"/>
          </a:xfrm>
          <a:custGeom>
            <a:avLst/>
            <a:gdLst/>
            <a:ahLst/>
            <a:cxnLst/>
            <a:rect l="l" t="t" r="r" b="b"/>
            <a:pathLst>
              <a:path w="1476801" h="1002379">
                <a:moveTo>
                  <a:pt x="0" y="0"/>
                </a:moveTo>
                <a:lnTo>
                  <a:pt x="1476800" y="0"/>
                </a:lnTo>
                <a:lnTo>
                  <a:pt x="1476800" y="1002378"/>
                </a:lnTo>
                <a:lnTo>
                  <a:pt x="0" y="1002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845268" y="1543460"/>
            <a:ext cx="6597464" cy="13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17926" y="3142306"/>
            <a:ext cx="9052149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2180400" y="7242622"/>
            <a:ext cx="36648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7311676" y="7242622"/>
            <a:ext cx="36648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617302" y="6823118"/>
            <a:ext cx="2791064" cy="38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2881487" y="6823118"/>
            <a:ext cx="2791064" cy="38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7748578" y="6823118"/>
            <a:ext cx="2791064" cy="38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2442952" y="7242622"/>
            <a:ext cx="366486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828800"/>
            <a:ext cx="59436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KEY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880360"/>
            <a:ext cx="6858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Equipment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337560"/>
            <a:ext cx="685800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Centralized inventory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 identification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Status + health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6858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dirty="0">
                <a:solidFill>
                  <a:srgbClr val="074678"/>
                </a:solidFill>
                <a:latin typeface="Poppins"/>
              </a:rPr>
              <a:t>Live Hospital </a:t>
            </a:r>
            <a:r>
              <a:rPr sz="2400" b="1" dirty="0">
                <a:solidFill>
                  <a:srgbClr val="074678"/>
                </a:solidFill>
                <a:latin typeface="Poppins"/>
              </a:rPr>
              <a:t>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685800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Interactive floor map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Department-wise locations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Movement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086600"/>
            <a:ext cx="6858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ESP32 Lab + AI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543800"/>
            <a:ext cx="6858000" cy="182460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Hardware monitoring • RFID/PIR testing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AI allocation • maintenance •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500" b="-1716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965705" y="-4241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009116" y="9145098"/>
            <a:ext cx="1617048" cy="1402789"/>
          </a:xfrm>
          <a:custGeom>
            <a:avLst/>
            <a:gdLst/>
            <a:ahLst/>
            <a:cxnLst/>
            <a:rect l="l" t="t" r="r" b="b"/>
            <a:pathLst>
              <a:path w="1617048" h="1402789">
                <a:moveTo>
                  <a:pt x="0" y="0"/>
                </a:moveTo>
                <a:lnTo>
                  <a:pt x="1617048" y="0"/>
                </a:lnTo>
                <a:lnTo>
                  <a:pt x="1617048" y="1402789"/>
                </a:lnTo>
                <a:lnTo>
                  <a:pt x="0" y="1402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10889558" y="1560860"/>
            <a:ext cx="9580650" cy="7471970"/>
            <a:chOff x="0" y="0"/>
            <a:chExt cx="895625" cy="698500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895625" cy="698500"/>
            </a:xfrm>
            <a:custGeom>
              <a:avLst/>
              <a:gdLst/>
              <a:ahLst/>
              <a:cxnLst/>
              <a:rect l="l" t="t" r="r" b="b"/>
              <a:pathLst>
                <a:path w="895625" h="698500">
                  <a:moveTo>
                    <a:pt x="0" y="349250"/>
                  </a:moveTo>
                  <a:lnTo>
                    <a:pt x="203200" y="698500"/>
                  </a:lnTo>
                  <a:lnTo>
                    <a:pt x="692425" y="698500"/>
                  </a:lnTo>
                  <a:lnTo>
                    <a:pt x="895625" y="349250"/>
                  </a:lnTo>
                  <a:lnTo>
                    <a:pt x="692425" y="0"/>
                  </a:lnTo>
                  <a:lnTo>
                    <a:pt x="203200" y="0"/>
                  </a:lnTo>
                  <a:lnTo>
                    <a:pt x="0" y="349250"/>
                  </a:lnTo>
                  <a:close/>
                </a:path>
              </a:pathLst>
            </a:custGeom>
            <a:blipFill>
              <a:blip r:embed="rId5"/>
              <a:stretch>
                <a:fillRect l="-9992" r="-9992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305317" y="6249759"/>
            <a:ext cx="3650689" cy="36506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5046" r="-25046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28800"/>
            <a:ext cx="60350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26080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383280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ESP32 + RFID + PIR integrated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Buttons, LED and buzzer connected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Automatic/manual status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Backend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</a:t>
            </a:r>
            <a:r>
              <a:rPr sz="2800" dirty="0" err="1">
                <a:solidFill>
                  <a:srgbClr val="074678"/>
                </a:solidFill>
                <a:latin typeface="Neue Einstellung"/>
              </a:rPr>
              <a:t>FastAPI</a:t>
            </a:r>
            <a:r>
              <a:rPr sz="2800" dirty="0">
                <a:solidFill>
                  <a:srgbClr val="074678"/>
                </a:solidFill>
                <a:latin typeface="Neue Einstellung"/>
              </a:rPr>
              <a:t> services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Equipment/status handling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Database + real-time 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7498079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Frontend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7955279"/>
            <a:ext cx="6949440" cy="1417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Dashboard • map • ESP32 Lab • AI Insights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>
                <a:solidFill>
                  <a:srgbClr val="074678"/>
                </a:solidFill>
                <a:latin typeface="Neue Einstellung"/>
              </a:rPr>
              <a:t>• Allocation • maintenance •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">
            <a:extLst>
              <a:ext uri="{FF2B5EF4-FFF2-40B4-BE49-F238E27FC236}">
                <a16:creationId xmlns:a16="http://schemas.microsoft.com/office/drawing/2014/main" id="{881E9BF6-80B8-F318-CA36-C5D1ADA76E28}"/>
              </a:ext>
            </a:extLst>
          </p:cNvPr>
          <p:cNvSpPr/>
          <p:nvPr/>
        </p:nvSpPr>
        <p:spPr>
          <a:xfrm>
            <a:off x="-2209800" y="-227525"/>
            <a:ext cx="21396960" cy="118028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3000648" y="-2275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136693"/>
            <a:ext cx="6597464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3735539"/>
            <a:ext cx="882209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028700" y="5872074"/>
            <a:ext cx="4678796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28700" y="6687745"/>
            <a:ext cx="408845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028700" y="6279910"/>
            <a:ext cx="428184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028700" y="7095581"/>
            <a:ext cx="3919785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874519"/>
            <a:ext cx="6400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WORKING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792416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Demonstration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454" y="3250409"/>
            <a:ext cx="6949440" cy="32455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 scanning identifies registered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PIR detects motion and triggers usage updates.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Buttons provide manual status control.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LED and buzzer provide local feedback.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661863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Website Demonstration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712" y="7104454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Hardware synchronization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 inventory + live status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Hospital map + ESP32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171" y="9206727"/>
            <a:ext cx="704088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800" b="1">
                <a:solidFill>
                  <a:srgbClr val="074678"/>
                </a:solidFill>
                <a:latin typeface="Neue Einstellung"/>
              </a:rPr>
              <a:t>RFID → Detection → Wi-Fi → Backend → Website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2">
            <a:extLst>
              <a:ext uri="{FF2B5EF4-FFF2-40B4-BE49-F238E27FC236}">
                <a16:creationId xmlns:a16="http://schemas.microsoft.com/office/drawing/2014/main" id="{AD405F57-EF01-4506-DD04-A6036AEFD54D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-2209800" y="-1629608"/>
            <a:ext cx="16700488" cy="12142438"/>
            <a:chOff x="0" y="0"/>
            <a:chExt cx="4398482" cy="3198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472031"/>
            <a:ext cx="6390241" cy="196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28700" y="4571365"/>
            <a:ext cx="8743845" cy="133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506206" y="7425268"/>
            <a:ext cx="2457861" cy="36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4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506206" y="7900144"/>
            <a:ext cx="3611667" cy="36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4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506206" y="8375021"/>
            <a:ext cx="3662948" cy="36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4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8700" y="214427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 dirty="0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" y="1175157"/>
            <a:ext cx="6400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 dirty="0">
                <a:solidFill>
                  <a:srgbClr val="074678"/>
                </a:solidFill>
                <a:latin typeface="Poppins"/>
              </a:rPr>
              <a:t>RESULTS &amp;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587" y="2186202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Prototype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587" y="2926241"/>
            <a:ext cx="6949440" cy="509729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ESP32 initialized and operated successfully.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 equipment identification demonstrated.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PIR motion detection demonstrated.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Manual start/stop and temporary-unavailable controls implemented.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Hardware-to-website synchronization demonstrated.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Hospital map and ESP32 Lab interfaces developed.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72097"/>
            <a:ext cx="56692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Evaluation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833453"/>
            <a:ext cx="5486400" cy="2926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RFID: tag recognition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PIR: sensor response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Status: correct updates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Connectivity: synchronization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Location: map visualization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AI: output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747" y="8693431"/>
            <a:ext cx="158496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Accuracy, response time and prediction performance should be reported only after measurement.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500" b="-17166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1447800" y="-369484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2023745"/>
            <a:ext cx="5405222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28700" y="9087948"/>
            <a:ext cx="4595207" cy="44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78490" y="3713980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78490" y="6023369"/>
            <a:ext cx="8051066" cy="188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28800"/>
            <a:ext cx="68580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074678"/>
                </a:solidFill>
                <a:latin typeface="Poppins"/>
              </a:rPr>
              <a:t>CHALLENGES &amp;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Multiple hardware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631" y="363903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ESP32 as central 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142" y="4229853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Equipment identification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552" y="507232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RFID-based identification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77899"/>
            <a:ext cx="35661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Usage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0905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>
                <a:solidFill>
                  <a:srgbClr val="074678"/>
                </a:solidFill>
                <a:latin typeface="Neue Einstellung"/>
              </a:rPr>
              <a:t>PIR motion sensing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720840"/>
            <a:ext cx="35661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Correct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104888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>
                <a:solidFill>
                  <a:srgbClr val="074678"/>
                </a:solidFill>
                <a:latin typeface="Neue Einstellung"/>
              </a:rPr>
              <a:t>Manual start/stop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2297" y="2741786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communication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466164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Wi-Fi API communication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160520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Website synchronization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821429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Backend + real-time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440679"/>
            <a:ext cx="35661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Location 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824727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>
                <a:solidFill>
                  <a:srgbClr val="074678"/>
                </a:solidFill>
                <a:latin typeface="Neue Einstellung"/>
              </a:rPr>
              <a:t>Interactive hospital 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6720840"/>
            <a:ext cx="35661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Different hospital needs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327" y="7452135"/>
            <a:ext cx="548640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0" dirty="0">
                <a:solidFill>
                  <a:srgbClr val="074678"/>
                </a:solidFill>
                <a:latin typeface="Neue Einstellung"/>
              </a:rPr>
              <a:t>AI-assisted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2">
            <a:extLst>
              <a:ext uri="{FF2B5EF4-FFF2-40B4-BE49-F238E27FC236}">
                <a16:creationId xmlns:a16="http://schemas.microsoft.com/office/drawing/2014/main" id="{16BEC78F-223A-1881-0FA7-E1DC567627B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 dirty="0"/>
          </a:p>
        </p:txBody>
      </p:sp>
      <p:grpSp>
        <p:nvGrpSpPr>
          <p:cNvPr id="3" name="Group 3"/>
          <p:cNvGrpSpPr/>
          <p:nvPr/>
        </p:nvGrpSpPr>
        <p:grpSpPr>
          <a:xfrm>
            <a:off x="-1718328" y="-227525"/>
            <a:ext cx="12853901" cy="11025968"/>
            <a:chOff x="0" y="0"/>
            <a:chExt cx="3385389" cy="2903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389" cy="2903959"/>
            </a:xfrm>
            <a:custGeom>
              <a:avLst/>
              <a:gdLst/>
              <a:ahLst/>
              <a:cxnLst/>
              <a:rect l="l" t="t" r="r" b="b"/>
              <a:pathLst>
                <a:path w="3385389" h="2903959">
                  <a:moveTo>
                    <a:pt x="0" y="0"/>
                  </a:moveTo>
                  <a:lnTo>
                    <a:pt x="3385389" y="0"/>
                  </a:lnTo>
                  <a:lnTo>
                    <a:pt x="3385389" y="2903959"/>
                  </a:lnTo>
                  <a:lnTo>
                    <a:pt x="0" y="2903959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389" cy="2961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136693"/>
            <a:ext cx="6597464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3735539"/>
            <a:ext cx="8822095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028700" y="5872074"/>
            <a:ext cx="4678796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28700" y="6687745"/>
            <a:ext cx="408845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028700" y="6279910"/>
            <a:ext cx="4281844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028700" y="7095581"/>
            <a:ext cx="3919785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523" lvl="1" indent="-290761" algn="l">
              <a:lnSpc>
                <a:spcPts val="3770"/>
              </a:lnSpc>
              <a:buFont typeface="Arial"/>
              <a:buChar char="•"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965960"/>
            <a:ext cx="6400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600" b="1">
                <a:solidFill>
                  <a:srgbClr val="074678"/>
                </a:solidFill>
                <a:latin typeface="Poppins"/>
              </a:rPr>
              <a:t>IMPACT &amp; USE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017520"/>
            <a:ext cx="70408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474720"/>
            <a:ext cx="7040880" cy="466640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Emergency departments: locate critical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ICUs: monitor availability and usage.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General wards: track shared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Radiology: monitor imaging equipment.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Equipment teams: inventory, movement and maintenance.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Administration: centralized operational insights.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3608" y="2869050"/>
            <a:ext cx="70408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074678"/>
                </a:solidFill>
                <a:latin typeface="Poppins"/>
              </a:rPr>
              <a:t>Expected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8368" y="3404829"/>
            <a:ext cx="7040880" cy="132959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Less search time • better visibility • improved utilization • organized maintenance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">
            <a:extLst>
              <a:ext uri="{FF2B5EF4-FFF2-40B4-BE49-F238E27FC236}">
                <a16:creationId xmlns:a16="http://schemas.microsoft.com/office/drawing/2014/main" id="{1328BC7C-853D-C205-D079-F011CF7111A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8642938" y="2432208"/>
            <a:ext cx="6597464" cy="13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3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8642938" y="4045789"/>
            <a:ext cx="8616362" cy="140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0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108947" y="6315946"/>
            <a:ext cx="5563601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108947" y="6845353"/>
            <a:ext cx="6896047" cy="4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0"/>
              </a:lnSpc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304" y="206876"/>
            <a:ext cx="274320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sz="2200" b="1" dirty="0">
                <a:solidFill>
                  <a:srgbClr val="074678"/>
                </a:solidFill>
                <a:latin typeface="Poppins"/>
              </a:rPr>
              <a:t>I</a:t>
            </a:r>
            <a:r>
              <a:rPr sz="2200" b="1" dirty="0">
                <a:solidFill>
                  <a:srgbClr val="074678"/>
                </a:solidFill>
                <a:latin typeface="Poppins"/>
              </a:rPr>
              <a:t>NNOV8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304" y="1249638"/>
            <a:ext cx="62179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800" b="1" dirty="0">
                <a:solidFill>
                  <a:srgbClr val="074678"/>
                </a:solidFill>
                <a:latin typeface="Poppins"/>
              </a:rPr>
              <a:t>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49" y="2252067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Hardware Enhancements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49" y="2902175"/>
            <a:ext cx="6949440" cy="188872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Compact low-power modules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Improved indoor positioning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More sensors + longer-range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304" y="5047485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AI Enhancements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304" y="5615248"/>
            <a:ext cx="6949440" cy="145783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Failure prediction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Advanced demand forecasting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Allocation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064" y="7343436"/>
            <a:ext cx="69494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Poppins"/>
              </a:rPr>
              <a:t>Platform +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064" y="7850523"/>
            <a:ext cx="6949440" cy="13937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Mobile app • HIS integration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Hospital-wide asset intelligence network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-685800" y="-800100"/>
            <a:ext cx="18310124" cy="12961409"/>
            <a:chOff x="-5321" y="-57150"/>
            <a:chExt cx="4403803" cy="3413704"/>
          </a:xfrm>
        </p:grpSpPr>
        <p:sp>
          <p:nvSpPr>
            <p:cNvPr id="4" name="Freeform 4"/>
            <p:cNvSpPr/>
            <p:nvPr/>
          </p:nvSpPr>
          <p:spPr>
            <a:xfrm>
              <a:off x="-5321" y="158546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096977" y="3433914"/>
            <a:ext cx="8094045" cy="372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58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39706"/>
            <a:ext cx="658368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dirty="0">
                <a:solidFill>
                  <a:srgbClr val="074678"/>
                </a:solidFill>
                <a:latin typeface="Poppins"/>
              </a:rPr>
              <a:t>MEDI-TRACK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400" b="1" dirty="0">
                <a:solidFill>
                  <a:srgbClr val="074678"/>
                </a:solidFill>
                <a:latin typeface="Poppins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98579"/>
            <a:ext cx="11612880" cy="814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Making Hospital Equipment Management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dirty="0">
                <a:solidFill>
                  <a:srgbClr val="074678"/>
                </a:solidFill>
                <a:latin typeface="Neue Einstellung"/>
              </a:rPr>
              <a:t>Smarter and More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143500"/>
            <a:ext cx="6309360" cy="37405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Identify equipment through RFID.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Detect usage through motion sensing.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Monitor status through ESP32.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Track equipment through a digital hospital map.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2800" dirty="0">
                <a:solidFill>
                  <a:srgbClr val="074678"/>
                </a:solidFill>
                <a:latin typeface="Neue Einstellung"/>
              </a:rPr>
              <a:t>• Analyze equipment information using 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F8F45-3A1C-0D7D-A085-F96A0308D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A29590-F891-CB37-DF88-67A0B485C75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33" b="-12833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B5DBE27-4308-0F0E-E360-6BB93CF307BF}"/>
              </a:ext>
            </a:extLst>
          </p:cNvPr>
          <p:cNvGrpSpPr/>
          <p:nvPr/>
        </p:nvGrpSpPr>
        <p:grpSpPr>
          <a:xfrm>
            <a:off x="-685800" y="-800100"/>
            <a:ext cx="18310124" cy="12961409"/>
            <a:chOff x="-5321" y="-57150"/>
            <a:chExt cx="4403803" cy="341370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6D1C0F0-D45E-15F1-AB50-4CFF2BDE1AC4}"/>
                </a:ext>
              </a:extLst>
            </p:cNvPr>
            <p:cNvSpPr/>
            <p:nvPr/>
          </p:nvSpPr>
          <p:spPr>
            <a:xfrm>
              <a:off x="-5321" y="158546"/>
              <a:ext cx="4398482" cy="3198008"/>
            </a:xfrm>
            <a:custGeom>
              <a:avLst/>
              <a:gdLst/>
              <a:ahLst/>
              <a:cxnLst/>
              <a:rect l="l" t="t" r="r" b="b"/>
              <a:pathLst>
                <a:path w="4398482" h="3198008">
                  <a:moveTo>
                    <a:pt x="0" y="0"/>
                  </a:moveTo>
                  <a:lnTo>
                    <a:pt x="4398482" y="0"/>
                  </a:lnTo>
                  <a:lnTo>
                    <a:pt x="4398482" y="3198008"/>
                  </a:lnTo>
                  <a:lnTo>
                    <a:pt x="0" y="319800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B6D5413-CA47-2985-AED4-9EA08D6105BF}"/>
                </a:ext>
              </a:extLst>
            </p:cNvPr>
            <p:cNvSpPr txBox="1"/>
            <p:nvPr/>
          </p:nvSpPr>
          <p:spPr>
            <a:xfrm>
              <a:off x="0" y="-57150"/>
              <a:ext cx="4398482" cy="3255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328F58C-B2E9-060A-3457-2E784F7488CB}"/>
              </a:ext>
            </a:extLst>
          </p:cNvPr>
          <p:cNvSpPr/>
          <p:nvPr/>
        </p:nvSpPr>
        <p:spPr>
          <a:xfrm>
            <a:off x="1028700" y="561269"/>
            <a:ext cx="749790" cy="752613"/>
          </a:xfrm>
          <a:custGeom>
            <a:avLst/>
            <a:gdLst/>
            <a:ahLst/>
            <a:cxnLst/>
            <a:rect l="l" t="t" r="r" b="b"/>
            <a:pathLst>
              <a:path w="749790" h="752613">
                <a:moveTo>
                  <a:pt x="0" y="0"/>
                </a:moveTo>
                <a:lnTo>
                  <a:pt x="749790" y="0"/>
                </a:lnTo>
                <a:lnTo>
                  <a:pt x="749790" y="752613"/>
                </a:lnTo>
                <a:lnTo>
                  <a:pt x="0" y="752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318C21-3ACD-97A7-2480-3A14EADCDE11}"/>
              </a:ext>
            </a:extLst>
          </p:cNvPr>
          <p:cNvSpPr txBox="1"/>
          <p:nvPr/>
        </p:nvSpPr>
        <p:spPr>
          <a:xfrm>
            <a:off x="5096977" y="3433914"/>
            <a:ext cx="8094045" cy="372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58"/>
              </a:lnSpc>
            </a:pPr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79C7B5-744B-4C6C-1AFF-CDD34A7CC5D4}"/>
              </a:ext>
            </a:extLst>
          </p:cNvPr>
          <p:cNvSpPr txBox="1"/>
          <p:nvPr/>
        </p:nvSpPr>
        <p:spPr>
          <a:xfrm>
            <a:off x="1960960" y="563834"/>
            <a:ext cx="3349585" cy="65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1E0821C-800A-3CAC-7EFA-AB3C64B4C3F0}"/>
              </a:ext>
            </a:extLst>
          </p:cNvPr>
          <p:cNvSpPr txBox="1"/>
          <p:nvPr/>
        </p:nvSpPr>
        <p:spPr>
          <a:xfrm>
            <a:off x="1028700" y="9087948"/>
            <a:ext cx="4595207" cy="44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F5944-D19D-708D-B8A9-643B4D4ADA88}"/>
              </a:ext>
            </a:extLst>
          </p:cNvPr>
          <p:cNvSpPr txBox="1"/>
          <p:nvPr/>
        </p:nvSpPr>
        <p:spPr>
          <a:xfrm>
            <a:off x="1792224" y="493776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>
                <a:solidFill>
                  <a:srgbClr val="074678"/>
                </a:solidFill>
                <a:latin typeface="Poppins"/>
              </a:rPr>
              <a:t>INNOV8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702DA-5BA9-23AB-990A-342BB088C3CB}"/>
              </a:ext>
            </a:extLst>
          </p:cNvPr>
          <p:cNvSpPr txBox="1"/>
          <p:nvPr/>
        </p:nvSpPr>
        <p:spPr>
          <a:xfrm>
            <a:off x="5490958" y="4433256"/>
            <a:ext cx="6583680" cy="1268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sz="8000" b="1" dirty="0">
                <a:solidFill>
                  <a:srgbClr val="074678"/>
                </a:solidFill>
                <a:latin typeface="Poppins"/>
              </a:rPr>
              <a:t>THANK YOU</a:t>
            </a:r>
            <a:endParaRPr sz="8000" b="1" dirty="0">
              <a:solidFill>
                <a:srgbClr val="074678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17795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968</Words>
  <Application>Microsoft Office PowerPoint</Application>
  <PresentationFormat>Custom</PresentationFormat>
  <Paragraphs>194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Poppins</vt:lpstr>
      <vt:lpstr>Neue Einstellung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Medical Healtcare Presentation</dc:title>
  <dc:creator>NIRANJANA</dc:creator>
  <cp:lastModifiedBy>Ameya Jose chazhoor</cp:lastModifiedBy>
  <cp:revision>3</cp:revision>
  <dcterms:created xsi:type="dcterms:W3CDTF">2006-08-16T00:00:00Z</dcterms:created>
  <dcterms:modified xsi:type="dcterms:W3CDTF">2026-10-03T01:45:08Z</dcterms:modified>
  <dc:identifier>DAHW3HAlwNQ</dc:identifier>
</cp:coreProperties>
</file>